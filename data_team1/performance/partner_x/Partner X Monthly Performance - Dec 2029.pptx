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fWBnPdhaX6ZXwtz9O2XWMMv57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9FEA5B-AA04-4864-96EE-BD4A369E2E57}">
  <a:tblStyle styleId="{769FEA5B-AA04-4864-96EE-BD4A369E2E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2" Type="http://customschemas.google.com/relationships/presentationmetadata" Target="metadata"/><Relationship Id="rId9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3803025" y="471975"/>
            <a:ext cx="5173500" cy="1145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437100" y="47625"/>
            <a:ext cx="4202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Partner X Customer Performance -</a:t>
            </a:r>
            <a:endParaRPr b="1" i="0" sz="1800" u="none" cap="none" strike="noStrik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77500" y="483375"/>
            <a:ext cx="1310400" cy="113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587200" y="483375"/>
            <a:ext cx="2133600" cy="113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94475" y="491500"/>
            <a:ext cx="12933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Sales</a:t>
            </a:r>
            <a:endParaRPr b="1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587200" y="491800"/>
            <a:ext cx="11460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Non-Member Sales</a:t>
            </a:r>
            <a:endParaRPr b="0" i="0" sz="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673000" y="491500"/>
            <a:ext cx="10392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Member Sales</a:t>
            </a:r>
            <a:endParaRPr b="1" i="0" sz="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285750" y="787200"/>
            <a:ext cx="635400" cy="5895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309.4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064738" y="758375"/>
            <a:ext cx="513600" cy="513600"/>
          </a:xfrm>
          <a:prstGeom prst="ellipse">
            <a:avLst/>
          </a:prstGeom>
          <a:solidFill>
            <a:srgbClr val="E6913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1778388" y="768150"/>
            <a:ext cx="513600" cy="5136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3292200" y="1666400"/>
            <a:ext cx="2978700" cy="147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77500" y="1668725"/>
            <a:ext cx="3057600" cy="147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125" y="1693050"/>
            <a:ext cx="3057575" cy="1407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" name="Google Shape;67;p1"/>
          <p:cNvGraphicFramePr/>
          <p:nvPr/>
        </p:nvGraphicFramePr>
        <p:xfrm>
          <a:off x="248938" y="209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759300"/>
                <a:gridCol w="759300"/>
                <a:gridCol w="759300"/>
                <a:gridCol w="6550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$1.2m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-27.1%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-13.3%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$2.1m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-20.3%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$2.8m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99.1%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Google Shape;68;p1"/>
          <p:cNvGraphicFramePr/>
          <p:nvPr/>
        </p:nvGraphicFramePr>
        <p:xfrm>
          <a:off x="239800" y="273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759300"/>
                <a:gridCol w="759300"/>
                <a:gridCol w="759300"/>
                <a:gridCol w="655075"/>
              </a:tblGrid>
              <a:tr h="30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$1.1m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-34%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$1.9m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-21.5%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$3.1m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-14%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$2.9m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-5.1%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Google Shape;69;p1"/>
          <p:cNvGraphicFramePr/>
          <p:nvPr/>
        </p:nvGraphicFramePr>
        <p:xfrm>
          <a:off x="3064738" y="90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549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</a:t>
                      </a:r>
                      <a:r>
                        <a:rPr b="1" lang="en-GB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0" name="Google Shape;70;p1"/>
          <p:cNvGraphicFramePr/>
          <p:nvPr/>
        </p:nvGraphicFramePr>
        <p:xfrm>
          <a:off x="3048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635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b="1"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.0m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1" name="Google Shape;71;p1"/>
          <p:cNvGraphicFramePr/>
          <p:nvPr/>
        </p:nvGraphicFramePr>
        <p:xfrm>
          <a:off x="1760488" y="91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549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$15m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-10%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pic>
        <p:nvPicPr>
          <p:cNvPr id="72" name="Google Shape;72;p1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7500" y="969284"/>
            <a:ext cx="383825" cy="328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"/>
          <p:cNvCxnSpPr>
            <a:stCxn id="62" idx="2"/>
            <a:endCxn id="72" idx="3"/>
          </p:cNvCxnSpPr>
          <p:nvPr/>
        </p:nvCxnSpPr>
        <p:spPr>
          <a:xfrm flipH="1">
            <a:off x="2921338" y="1015175"/>
            <a:ext cx="143400" cy="1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"/>
          <p:cNvCxnSpPr>
            <a:stCxn id="63" idx="6"/>
            <a:endCxn id="72" idx="1"/>
          </p:cNvCxnSpPr>
          <p:nvPr/>
        </p:nvCxnSpPr>
        <p:spPr>
          <a:xfrm>
            <a:off x="2291988" y="1024950"/>
            <a:ext cx="245400" cy="1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5" name="Google Shape;75;p1"/>
          <p:cNvGraphicFramePr/>
          <p:nvPr/>
        </p:nvGraphicFramePr>
        <p:xfrm>
          <a:off x="1578613" y="137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1094375"/>
                <a:gridCol w="1039225"/>
              </a:tblGrid>
              <a:tr h="2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-15 vs LY</a:t>
                      </a:r>
                      <a:endParaRPr b="1"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-15% vs LY</a:t>
                      </a:r>
                      <a:endParaRPr b="1"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Google Shape;76;p1"/>
          <p:cNvGraphicFramePr/>
          <p:nvPr/>
        </p:nvGraphicFramePr>
        <p:xfrm>
          <a:off x="1043050" y="667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444775"/>
              </a:tblGrid>
              <a:tr h="94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-15%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LY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" name="Google Shape;7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3136" y="1733675"/>
            <a:ext cx="20168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9625" y="1695950"/>
            <a:ext cx="2886699" cy="137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"/>
          <p:cNvGraphicFramePr/>
          <p:nvPr/>
        </p:nvGraphicFramePr>
        <p:xfrm>
          <a:off x="6325400" y="16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506225"/>
                <a:gridCol w="809950"/>
                <a:gridCol w="641200"/>
                <a:gridCol w="683400"/>
              </a:tblGrid>
              <a:tr h="14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/ Medium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Lapsed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SOW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55%+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Retain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72.2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1.9% vs LY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Attract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34.9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-26.6% vs LY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rowSpan="3" hMerge="1"/>
              </a:tr>
              <a:tr h="3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30%-55%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Grow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78.8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-15% vs LY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 gridSpan="2" vMerge="1"/>
                <a:tc hMerge="1" vMerge="1"/>
              </a:tr>
              <a:tr h="22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0% - 30%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gridSpan="2" vMerge="1"/>
                <a:tc hMerge="1" vMerge="1"/>
              </a:tr>
              <a:tr h="3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1st Time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Shoppers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 Time Shopped</a:t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10.2</a:t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-28.6% vs LY</a:t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80" name="Google Shape;8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2547" y="45926"/>
            <a:ext cx="383825" cy="38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1"/>
          <p:cNvGraphicFramePr/>
          <p:nvPr/>
        </p:nvGraphicFramePr>
        <p:xfrm>
          <a:off x="5639125" y="7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120540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rgbClr val="FF99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</a:t>
                      </a:r>
                      <a:r>
                        <a:rPr b="1" lang="en-GB" sz="1800" u="none" cap="none" strike="noStrike">
                          <a:solidFill>
                            <a:srgbClr val="FF99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2029</a:t>
                      </a:r>
                      <a:endParaRPr b="1" sz="1800" u="none" cap="none" strike="noStrike">
                        <a:solidFill>
                          <a:srgbClr val="FF99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" name="Google Shape;8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5615" y="47625"/>
            <a:ext cx="716735" cy="382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" name="Google Shape;83;p1"/>
          <p:cNvGraphicFramePr/>
          <p:nvPr/>
        </p:nvGraphicFramePr>
        <p:xfrm>
          <a:off x="3820100" y="471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{769FEA5B-AA04-4864-96EE-BD4A369E2E57}</a:tableStyleId>
              </a:tblPr>
              <a:tblGrid>
                <a:gridCol w="5146075"/>
              </a:tblGrid>
              <a:tr h="2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RETIREES ($2.9m, -5.1% YoY) and YOUNG FAMS ($4m, -13.3% YoY) had the highest growth while NEW FAMS ($1.1m, -27.1% YoY) and YOUNG SINKS ($1.1m, -34% YoY) had the lowest growth.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Retain members ($7.2M) had the largest sales growth (1.9% YoY).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Monthly Frequency of Retained customer base was 3 shops (0.2% from Last Month).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41% of Partner X baskets were from members cross shopped at Supers as well as Partner X (0% from Last Month).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The Scan Rate was 50.5% (+3.1% YoY) and Tag Rate was 57% (+4% YoY).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The Average Order Value for Members was $41 (-1% from Last Month).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Member $ AOV YOY growth was -5% and Non-Member $ AOV YOY growth was -8%.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