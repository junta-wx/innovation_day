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Montserrat Light"/>
      <p:regular r:id="rId16"/>
      <p:bold r:id="rId17"/>
      <p:italic r:id="rId18"/>
      <p:boldItalic r:id="rId19"/>
    </p:embeddedFont>
    <p:embeddedFont>
      <p:font typeface="Roboto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regular.fntdata"/><Relationship Id="rId11" Type="http://schemas.openxmlformats.org/officeDocument/2006/relationships/font" Target="fonts/Roboto-boldItalic.fntdata"/><Relationship Id="rId22" Type="http://schemas.openxmlformats.org/officeDocument/2006/relationships/font" Target="fonts/RobotoLight-italic.fntdata"/><Relationship Id="rId10" Type="http://schemas.openxmlformats.org/officeDocument/2006/relationships/font" Target="fonts/Roboto-italic.fntdata"/><Relationship Id="rId21" Type="http://schemas.openxmlformats.org/officeDocument/2006/relationships/font" Target="fonts/RobotoLight-bold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23" Type="http://schemas.openxmlformats.org/officeDocument/2006/relationships/font" Target="fonts/Roboto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MontserratLight-bold.fntdata"/><Relationship Id="rId16" Type="http://schemas.openxmlformats.org/officeDocument/2006/relationships/font" Target="fonts/Montserrat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Ligh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Light-italic.fntdata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047e59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9047e59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047e599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047e599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- Title Sldie">
  <p:cSld name="TITLE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11440" l="24761" r="11896" t="18163"/>
          <a:stretch/>
        </p:blipFill>
        <p:spPr>
          <a:xfrm>
            <a:off x="90300" y="90000"/>
            <a:ext cx="4392000" cy="4963500"/>
          </a:xfrm>
          <a:prstGeom prst="round2DiagRect">
            <a:avLst>
              <a:gd fmla="val 1191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816888" y="4901787"/>
            <a:ext cx="3366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9397" y="4684897"/>
            <a:ext cx="887601" cy="5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663450" y="955125"/>
            <a:ext cx="3678000" cy="18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63450" y="2697475"/>
            <a:ext cx="40131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2" type="subTitle"/>
          </p:nvPr>
        </p:nvSpPr>
        <p:spPr>
          <a:xfrm>
            <a:off x="4663450" y="452758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000"/>
              <a:buFont typeface="Montserrat"/>
              <a:buNone/>
              <a:defRPr b="1" sz="1000">
                <a:solidFill>
                  <a:srgbClr val="3A47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3" type="subTitle"/>
          </p:nvPr>
        </p:nvSpPr>
        <p:spPr>
          <a:xfrm>
            <a:off x="4663450" y="471180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000"/>
              <a:buFont typeface="Montserrat Light"/>
              <a:buNone/>
              <a:defRPr sz="10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1 Col">
  <p:cSld name="TITLE_1_2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8913" y="0"/>
            <a:ext cx="3228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title"/>
          </p:nvPr>
        </p:nvSpPr>
        <p:spPr>
          <a:xfrm>
            <a:off x="468175" y="632525"/>
            <a:ext cx="5586000" cy="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73275" y="1147675"/>
            <a:ext cx="4113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" name="Google Shape;62;p14"/>
          <p:cNvSpPr/>
          <p:nvPr/>
        </p:nvSpPr>
        <p:spPr>
          <a:xfrm>
            <a:off x="563700" y="4790950"/>
            <a:ext cx="8044500" cy="13500"/>
          </a:xfrm>
          <a:prstGeom prst="rect">
            <a:avLst/>
          </a:prstGeom>
          <a:solidFill>
            <a:srgbClr val="7F7F7F">
              <a:alpha val="32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8866" l="79356" r="3894" t="19519"/>
          <a:stretch/>
        </p:blipFill>
        <p:spPr>
          <a:xfrm>
            <a:off x="279914" y="4738958"/>
            <a:ext cx="139575" cy="1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176450" y="160546"/>
            <a:ext cx="4113600" cy="2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46506" y="464664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663450" y="955125"/>
            <a:ext cx="4013100" cy="18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Partner X Partnership KPIs</a:t>
            </a:r>
            <a:endParaRPr/>
          </a:p>
        </p:txBody>
      </p:sp>
      <p:sp>
        <p:nvSpPr>
          <p:cNvPr id="71" name="Google Shape;71;p15"/>
          <p:cNvSpPr txBox="1"/>
          <p:nvPr>
            <p:ph idx="2" type="subTitle"/>
          </p:nvPr>
        </p:nvSpPr>
        <p:spPr>
          <a:xfrm>
            <a:off x="4663450" y="452758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3" type="subTitle"/>
          </p:nvPr>
        </p:nvSpPr>
        <p:spPr>
          <a:xfrm>
            <a:off x="4663450" y="471180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468175" y="632525"/>
            <a:ext cx="5586000" cy="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Partner X KPIs by 30 Jun 2030</a:t>
            </a:r>
            <a:endParaRPr/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473275" y="1147675"/>
            <a:ext cx="4113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176450" y="160546"/>
            <a:ext cx="4113600" cy="2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99417" y="2079150"/>
            <a:ext cx="201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Active Members: </a:t>
            </a:r>
            <a:endParaRPr b="1" sz="2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9900FF"/>
                </a:solidFill>
                <a:latin typeface="Roboto Light"/>
                <a:ea typeface="Roboto Light"/>
                <a:cs typeface="Roboto Light"/>
                <a:sym typeface="Roboto Light"/>
              </a:rPr>
              <a:t>510K</a:t>
            </a:r>
            <a:r>
              <a:rPr b="1" lang="en-GB" sz="2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 → 600K </a:t>
            </a:r>
            <a:endParaRPr sz="2000">
              <a:solidFill>
                <a:srgbClr val="9900FF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662272" y="2158175"/>
            <a:ext cx="263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Member </a:t>
            </a:r>
            <a:r>
              <a:rPr b="1" lang="en-GB" sz="2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Sales: </a:t>
            </a:r>
            <a:br>
              <a:rPr b="1" lang="en-GB" sz="2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2000">
                <a:solidFill>
                  <a:srgbClr val="9900FF"/>
                </a:solidFill>
                <a:latin typeface="Roboto Light"/>
                <a:ea typeface="Roboto Light"/>
                <a:cs typeface="Roboto Light"/>
                <a:sym typeface="Roboto Light"/>
              </a:rPr>
              <a:t>$31M</a:t>
            </a:r>
            <a:r>
              <a:rPr b="1" lang="en-GB" sz="2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 →$34M </a:t>
            </a:r>
            <a:endParaRPr sz="20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