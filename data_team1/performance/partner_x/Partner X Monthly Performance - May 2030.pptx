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Montserrat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4FD3002-4750-45AD-9654-8E010C8A569D}">
  <a:tblStyle styleId="{84FD3002-4750-45AD-9654-8E010C8A569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font" Target="fonts/Montserrat-boldItalic.fntdata"/><Relationship Id="rId10" Type="http://schemas.openxmlformats.org/officeDocument/2006/relationships/font" Target="fonts/Montserrat-italic.fntdata"/><Relationship Id="rId9" Type="http://schemas.openxmlformats.org/officeDocument/2006/relationships/font" Target="fonts/Montserrat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3803025" y="471975"/>
            <a:ext cx="5173500" cy="11457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1437100" y="47625"/>
            <a:ext cx="42021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lang="en-GB" sz="1800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Partner X</a:t>
            </a:r>
            <a:r>
              <a:rPr b="1" lang="en-GB" sz="1800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 Customer Performance -</a:t>
            </a:r>
            <a:endParaRPr b="1" sz="1800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177500" y="483375"/>
            <a:ext cx="1310400" cy="11343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1587200" y="483375"/>
            <a:ext cx="2133600" cy="11343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 txBox="1"/>
          <p:nvPr/>
        </p:nvSpPr>
        <p:spPr>
          <a:xfrm>
            <a:off x="194475" y="491500"/>
            <a:ext cx="1293300" cy="200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Total Sales</a:t>
            </a:r>
            <a:endParaRPr b="1" sz="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1587200" y="491800"/>
            <a:ext cx="1146000" cy="200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Non-</a:t>
            </a:r>
            <a:r>
              <a:rPr b="1" lang="en-GB" sz="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Member Sales</a:t>
            </a:r>
            <a:endParaRPr sz="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2673000" y="491500"/>
            <a:ext cx="1039200" cy="200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Member Sales</a:t>
            </a:r>
            <a:endParaRPr b="1" sz="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285750" y="787200"/>
            <a:ext cx="635400" cy="589500"/>
          </a:xfrm>
          <a:prstGeom prst="ellipse">
            <a:avLst/>
          </a:prstGeom>
          <a:solidFill>
            <a:srgbClr val="000000"/>
          </a:solidFill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000000"/>
                </a:solidFill>
              </a:rPr>
              <a:t>309.4 M</a:t>
            </a:r>
            <a:endParaRPr/>
          </a:p>
        </p:txBody>
      </p:sp>
      <p:sp>
        <p:nvSpPr>
          <p:cNvPr id="62" name="Google Shape;62;p13"/>
          <p:cNvSpPr/>
          <p:nvPr/>
        </p:nvSpPr>
        <p:spPr>
          <a:xfrm>
            <a:off x="3064738" y="758375"/>
            <a:ext cx="513600" cy="513600"/>
          </a:xfrm>
          <a:prstGeom prst="ellipse">
            <a:avLst/>
          </a:prstGeom>
          <a:solidFill>
            <a:srgbClr val="E69138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3"/>
          <p:cNvSpPr/>
          <p:nvPr/>
        </p:nvSpPr>
        <p:spPr>
          <a:xfrm>
            <a:off x="1778388" y="768150"/>
            <a:ext cx="513600" cy="5136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3"/>
          <p:cNvSpPr/>
          <p:nvPr/>
        </p:nvSpPr>
        <p:spPr>
          <a:xfrm>
            <a:off x="3292200" y="1666400"/>
            <a:ext cx="2978700" cy="14706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3"/>
          <p:cNvSpPr/>
          <p:nvPr/>
        </p:nvSpPr>
        <p:spPr>
          <a:xfrm>
            <a:off x="177500" y="1668725"/>
            <a:ext cx="3057600" cy="14706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" name="Google Shape;6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125" y="1693050"/>
            <a:ext cx="3057575" cy="140754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7" name="Google Shape;67;p13"/>
          <p:cNvGraphicFramePr/>
          <p:nvPr/>
        </p:nvGraphicFramePr>
        <p:xfrm>
          <a:off x="248938" y="2096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{84FD3002-4750-45AD-9654-8E010C8A569D}</a:tableStyleId>
              </a:tblPr>
              <a:tblGrid>
                <a:gridCol w="759300"/>
                <a:gridCol w="759300"/>
                <a:gridCol w="759300"/>
                <a:gridCol w="655075"/>
              </a:tblGrid>
              <a:tr h="257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$1.1m</a:t>
                      </a:r>
                      <a:endParaRPr sz="7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-27.1%</a:t>
                      </a:r>
                      <a:endParaRPr sz="7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$4m</a:t>
                      </a:r>
                      <a:endParaRPr sz="7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-13.3%</a:t>
                      </a:r>
                      <a:endParaRPr sz="7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$2.1m</a:t>
                      </a:r>
                      <a:endParaRPr sz="7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-20.3%</a:t>
                      </a:r>
                      <a:endParaRPr sz="7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$2.8m</a:t>
                      </a:r>
                      <a:endParaRPr sz="7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99.1%</a:t>
                      </a:r>
                      <a:endParaRPr sz="7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8" name="Google Shape;68;p13"/>
          <p:cNvGraphicFramePr/>
          <p:nvPr/>
        </p:nvGraphicFramePr>
        <p:xfrm>
          <a:off x="239800" y="2735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{84FD3002-4750-45AD-9654-8E010C8A569D}</a:tableStyleId>
              </a:tblPr>
              <a:tblGrid>
                <a:gridCol w="759300"/>
                <a:gridCol w="759300"/>
                <a:gridCol w="759300"/>
                <a:gridCol w="655075"/>
              </a:tblGrid>
              <a:tr h="308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$1.1m</a:t>
                      </a:r>
                      <a:endParaRPr sz="7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-34%</a:t>
                      </a:r>
                      <a:endParaRPr sz="7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$1.9m</a:t>
                      </a:r>
                      <a:endParaRPr sz="7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-21.5%</a:t>
                      </a:r>
                      <a:endParaRPr sz="7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$3.1m</a:t>
                      </a:r>
                      <a:endParaRPr sz="7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-14%</a:t>
                      </a:r>
                      <a:endParaRPr sz="7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$2.9m</a:t>
                      </a:r>
                      <a:endParaRPr sz="7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-5.1%</a:t>
                      </a:r>
                      <a:endParaRPr sz="7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9" name="Google Shape;69;p13"/>
          <p:cNvGraphicFramePr/>
          <p:nvPr/>
        </p:nvGraphicFramePr>
        <p:xfrm>
          <a:off x="3064738" y="901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{84FD3002-4750-45AD-9654-8E010C8A569D}</a:tableStyleId>
              </a:tblPr>
              <a:tblGrid>
                <a:gridCol w="5494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$19.1m</a:t>
                      </a:r>
                      <a:endParaRPr b="1" sz="8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63.2%</a:t>
                      </a:r>
                      <a:endParaRPr b="1" sz="8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/>
                </a:tc>
              </a:tr>
            </a:tbl>
          </a:graphicData>
        </a:graphic>
      </p:graphicFrame>
      <p:graphicFrame>
        <p:nvGraphicFramePr>
          <p:cNvPr id="70" name="Google Shape;70;p13"/>
          <p:cNvGraphicFramePr/>
          <p:nvPr/>
        </p:nvGraphicFramePr>
        <p:xfrm>
          <a:off x="304800" y="990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{84FD3002-4750-45AD-9654-8E010C8A569D}</a:tableStyleId>
              </a:tblPr>
              <a:tblGrid>
                <a:gridCol w="6354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$31.0m</a:t>
                      </a:r>
                      <a:endParaRPr b="1" sz="9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/>
                </a:tc>
              </a:tr>
            </a:tbl>
          </a:graphicData>
        </a:graphic>
      </p:graphicFrame>
      <p:graphicFrame>
        <p:nvGraphicFramePr>
          <p:cNvPr id="71" name="Google Shape;71;p13"/>
          <p:cNvGraphicFramePr/>
          <p:nvPr/>
        </p:nvGraphicFramePr>
        <p:xfrm>
          <a:off x="1760488" y="913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{84FD3002-4750-45AD-9654-8E010C8A569D}</a:tableStyleId>
              </a:tblPr>
              <a:tblGrid>
                <a:gridCol w="5494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$11m</a:t>
                      </a:r>
                      <a:endParaRPr b="1" sz="8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36.8%</a:t>
                      </a:r>
                      <a:endParaRPr b="1" sz="8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/>
                </a:tc>
              </a:tr>
            </a:tbl>
          </a:graphicData>
        </a:graphic>
      </p:graphicFrame>
      <p:pic>
        <p:nvPicPr>
          <p:cNvPr id="72" name="Google Shape;72;p13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37500" y="969284"/>
            <a:ext cx="383825" cy="3289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3" name="Google Shape;73;p13"/>
          <p:cNvCxnSpPr>
            <a:stCxn id="62" idx="2"/>
            <a:endCxn id="72" idx="3"/>
          </p:cNvCxnSpPr>
          <p:nvPr/>
        </p:nvCxnSpPr>
        <p:spPr>
          <a:xfrm flipH="1">
            <a:off x="2921338" y="1015175"/>
            <a:ext cx="143400" cy="11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" name="Google Shape;74;p13"/>
          <p:cNvCxnSpPr>
            <a:stCxn id="63" idx="6"/>
            <a:endCxn id="72" idx="1"/>
          </p:cNvCxnSpPr>
          <p:nvPr/>
        </p:nvCxnSpPr>
        <p:spPr>
          <a:xfrm>
            <a:off x="2291988" y="1024950"/>
            <a:ext cx="245400" cy="10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75" name="Google Shape;75;p13"/>
          <p:cNvGraphicFramePr/>
          <p:nvPr/>
        </p:nvGraphicFramePr>
        <p:xfrm>
          <a:off x="1578613" y="1376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{84FD3002-4750-45AD-9654-8E010C8A569D}</a:tableStyleId>
              </a:tblPr>
              <a:tblGrid>
                <a:gridCol w="1094375"/>
                <a:gridCol w="1039225"/>
              </a:tblGrid>
              <a:tr h="240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-23.2% vs LY</a:t>
                      </a:r>
                      <a:endParaRPr b="1" sz="7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-13% vs LY</a:t>
                      </a:r>
                      <a:endParaRPr b="1" sz="7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6" name="Google Shape;76;p13"/>
          <p:cNvGraphicFramePr/>
          <p:nvPr/>
        </p:nvGraphicFramePr>
        <p:xfrm>
          <a:off x="1043050" y="6679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{84FD3002-4750-45AD-9654-8E010C8A569D}</a:tableStyleId>
              </a:tblPr>
              <a:tblGrid>
                <a:gridCol w="444775"/>
              </a:tblGrid>
              <a:tr h="949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-17%</a:t>
                      </a:r>
                      <a:endParaRPr b="1" sz="8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vs LY</a:t>
                      </a:r>
                      <a:endParaRPr b="1" sz="8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77" name="Google Shape;7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33136" y="1733675"/>
            <a:ext cx="201689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3" title="Chart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39625" y="1695950"/>
            <a:ext cx="2886699" cy="1371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9" name="Google Shape;79;p13"/>
          <p:cNvGraphicFramePr/>
          <p:nvPr/>
        </p:nvGraphicFramePr>
        <p:xfrm>
          <a:off x="6325400" y="165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{84FD3002-4750-45AD-9654-8E010C8A569D}</a:tableStyleId>
              </a:tblPr>
              <a:tblGrid>
                <a:gridCol w="506225"/>
                <a:gridCol w="809950"/>
                <a:gridCol w="641200"/>
                <a:gridCol w="683400"/>
              </a:tblGrid>
              <a:tr h="143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Value</a:t>
                      </a:r>
                      <a:endParaRPr b="1" sz="7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High / Medium</a:t>
                      </a:r>
                      <a:endParaRPr b="1" sz="7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Low</a:t>
                      </a:r>
                      <a:endParaRPr b="1" sz="7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Lapsed</a:t>
                      </a:r>
                      <a:endParaRPr b="1" sz="7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12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SOW</a:t>
                      </a:r>
                      <a:endParaRPr b="1" sz="7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55%+</a:t>
                      </a:r>
                      <a:endParaRPr b="1" sz="7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Retain</a:t>
                      </a:r>
                      <a:endParaRPr b="1" sz="6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72.2</a:t>
                      </a:r>
                      <a:endParaRPr b="1" sz="6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1.9% vs LY</a:t>
                      </a:r>
                      <a:endParaRPr b="1" sz="6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 gridSpan="2"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Attract</a:t>
                      </a:r>
                      <a:endParaRPr b="1" sz="6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34.9</a:t>
                      </a:r>
                      <a:endParaRPr b="1" sz="6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-26.6% vs LY</a:t>
                      </a:r>
                      <a:endParaRPr b="1" sz="6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  <a:tc rowSpan="3" hMerge="1"/>
              </a:tr>
              <a:tr h="312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30%-55%</a:t>
                      </a:r>
                      <a:endParaRPr b="1" sz="7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Grow</a:t>
                      </a:r>
                      <a:endParaRPr b="1" sz="6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78.8</a:t>
                      </a:r>
                      <a:endParaRPr b="1" sz="6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-15% vs LY</a:t>
                      </a:r>
                      <a:endParaRPr b="1" sz="6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394"/>
                    </a:solidFill>
                  </a:tcPr>
                </a:tc>
                <a:tc gridSpan="2" vMerge="1"/>
                <a:tc hMerge="1" vMerge="1"/>
              </a:tr>
              <a:tr h="2229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0% - 30%</a:t>
                      </a:r>
                      <a:endParaRPr b="1" sz="7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  <a:tc gridSpan="2" vMerge="1"/>
                <a:tc hMerge="1" vMerge="1"/>
              </a:tr>
              <a:tr h="312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1st Time</a:t>
                      </a:r>
                      <a:endParaRPr b="1" sz="7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Shoppers</a:t>
                      </a:r>
                      <a:endParaRPr b="1" sz="7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One Time Shopped</a:t>
                      </a:r>
                      <a:endParaRPr b="1" sz="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10.2</a:t>
                      </a:r>
                      <a:endParaRPr b="1" sz="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-28.6% vs LY</a:t>
                      </a:r>
                      <a:endParaRPr b="1" sz="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 hMerge="1"/>
                <a:tc hMerge="1"/>
              </a:tr>
            </a:tbl>
          </a:graphicData>
        </a:graphic>
      </p:graphicFrame>
      <p:pic>
        <p:nvPicPr>
          <p:cNvPr id="80" name="Google Shape;80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592547" y="45926"/>
            <a:ext cx="383825" cy="3838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1" name="Google Shape;81;p13"/>
          <p:cNvGraphicFramePr/>
          <p:nvPr/>
        </p:nvGraphicFramePr>
        <p:xfrm>
          <a:off x="5639125" y="77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{84FD3002-4750-45AD-9654-8E010C8A569D}</a:tableStyleId>
              </a:tblPr>
              <a:tblGrid>
                <a:gridCol w="1205400"/>
              </a:tblGrid>
              <a:tr h="295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FF99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May 2030</a:t>
                      </a:r>
                      <a:endParaRPr b="1" sz="1800">
                        <a:solidFill>
                          <a:srgbClr val="FF99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82" name="Google Shape;82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865615" y="47625"/>
            <a:ext cx="716735" cy="3821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3" name="Google Shape;83;p13"/>
          <p:cNvGraphicFramePr/>
          <p:nvPr/>
        </p:nvGraphicFramePr>
        <p:xfrm>
          <a:off x="3820100" y="4719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{84FD3002-4750-45AD-9654-8E010C8A569D}</a:tableStyleId>
              </a:tblPr>
              <a:tblGrid>
                <a:gridCol w="5146075"/>
              </a:tblGrid>
              <a:tr h="255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■ RETIREES ($2.9m, -5.1% YoY) and YOUNG FAMS ($4m, -13.3% YoY) had the highest growth while NEW FAMS ($1.1m, -27.1% YoY) and YOUNG SINKS ($1.1m, -34% YoY) had the lowest growth.</a:t>
                      </a:r>
                      <a:endParaRPr sz="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7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■ Retain members ($7.2M) had the largest sales growth (1.9% YoY).</a:t>
                      </a:r>
                      <a:endParaRPr sz="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7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■ Monthly Frequency of Retained customer base was 3 shops (0.2% from Last Month).</a:t>
                      </a:r>
                      <a:endParaRPr sz="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7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■ 41% of Partner X baskets were from members cross shopped at Supers as well as Partner X (0% from Last Month).</a:t>
                      </a:r>
                      <a:endParaRPr sz="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7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■ The Scan Rate was 50.5% (+3.1% YoY) and Tag Rate was 57% (+4% YoY).</a:t>
                      </a:r>
                      <a:endParaRPr sz="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7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■ The Average Order Value for Members was $41 (-1% from Last Month).</a:t>
                      </a:r>
                      <a:endParaRPr sz="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7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■ Member $ AOV YOY growth was -5% and Non-Member $ AOV YOY growth was -8%.</a:t>
                      </a:r>
                      <a:endParaRPr sz="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0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