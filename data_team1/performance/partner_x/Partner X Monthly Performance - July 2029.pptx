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Montserrat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h/g+rcq/aS13bixEfvXNAA8K9b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A83457-CCA2-4F82-95F4-76A128A89B6D}">
  <a:tblStyle styleId="{3DA83457-CCA2-4F82-95F4-76A128A89B6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italic.fntdata"/><Relationship Id="rId12" Type="http://customschemas.google.com/relationships/presentationmetadata" Target="metadata"/><Relationship Id="rId9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3803025" y="471975"/>
            <a:ext cx="5173500" cy="1145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1437100" y="47625"/>
            <a:ext cx="42021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Partner X Customer Performance -</a:t>
            </a:r>
            <a:endParaRPr b="1" i="0" sz="1800" u="none" cap="none" strike="noStrik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177500" y="483375"/>
            <a:ext cx="1310400" cy="11343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1587200" y="483375"/>
            <a:ext cx="2133600" cy="11343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194475" y="491500"/>
            <a:ext cx="1293300" cy="200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Total Sales</a:t>
            </a:r>
            <a:endParaRPr b="1" i="0" sz="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1587200" y="491800"/>
            <a:ext cx="1146000" cy="200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Non-Member Sales</a:t>
            </a:r>
            <a:endParaRPr b="0" i="0" sz="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2673000" y="491500"/>
            <a:ext cx="1039200" cy="200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Member Sales</a:t>
            </a:r>
            <a:endParaRPr b="1" i="0" sz="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285750" y="787200"/>
            <a:ext cx="635400" cy="589500"/>
          </a:xfrm>
          <a:prstGeom prst="ellipse">
            <a:avLst/>
          </a:prstGeom>
          <a:solidFill>
            <a:srgbClr val="000000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309.4 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3064738" y="758375"/>
            <a:ext cx="513600" cy="513600"/>
          </a:xfrm>
          <a:prstGeom prst="ellipse">
            <a:avLst/>
          </a:prstGeom>
          <a:solidFill>
            <a:srgbClr val="E6913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1778388" y="768150"/>
            <a:ext cx="513600" cy="5136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3292200" y="1666400"/>
            <a:ext cx="2978700" cy="1470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177500" y="1668725"/>
            <a:ext cx="3057600" cy="1470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125" y="1693050"/>
            <a:ext cx="3057575" cy="14075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7" name="Google Shape;67;p1"/>
          <p:cNvGraphicFramePr/>
          <p:nvPr/>
        </p:nvGraphicFramePr>
        <p:xfrm>
          <a:off x="248938" y="209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{3DA83457-CCA2-4F82-95F4-76A128A89B6D}</a:tableStyleId>
              </a:tblPr>
              <a:tblGrid>
                <a:gridCol w="759300"/>
                <a:gridCol w="759300"/>
                <a:gridCol w="759300"/>
                <a:gridCol w="655075"/>
              </a:tblGrid>
              <a:tr h="25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$1.</a:t>
                      </a:r>
                      <a:r>
                        <a:rPr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-27.1%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$4m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-13.3%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$2.1m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-20.3%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$2.8m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99.1%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" name="Google Shape;68;p1"/>
          <p:cNvGraphicFramePr/>
          <p:nvPr/>
        </p:nvGraphicFramePr>
        <p:xfrm>
          <a:off x="239800" y="273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{3DA83457-CCA2-4F82-95F4-76A128A89B6D}</a:tableStyleId>
              </a:tblPr>
              <a:tblGrid>
                <a:gridCol w="759300"/>
                <a:gridCol w="759300"/>
                <a:gridCol w="759300"/>
                <a:gridCol w="655075"/>
              </a:tblGrid>
              <a:tr h="308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$1.1m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-34%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$1.9m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-21.5%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$3.1m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-14%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$2.9m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-5.1%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" name="Google Shape;69;p1"/>
          <p:cNvGraphicFramePr/>
          <p:nvPr/>
        </p:nvGraphicFramePr>
        <p:xfrm>
          <a:off x="3064738" y="90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{3DA83457-CCA2-4F82-95F4-76A128A89B6D}</a:tableStyleId>
              </a:tblPr>
              <a:tblGrid>
                <a:gridCol w="54940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b="1" lang="en-GB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r>
                        <a:rPr b="1" lang="en-GB" sz="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r>
                        <a:rPr b="1" lang="en-GB" sz="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  <p:graphicFrame>
        <p:nvGraphicFramePr>
          <p:cNvPr id="70" name="Google Shape;70;p1"/>
          <p:cNvGraphicFramePr/>
          <p:nvPr/>
        </p:nvGraphicFramePr>
        <p:xfrm>
          <a:off x="304800" y="99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{3DA83457-CCA2-4F82-95F4-76A128A89B6D}</a:tableStyleId>
              </a:tblPr>
              <a:tblGrid>
                <a:gridCol w="63540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</a:t>
                      </a:r>
                      <a:r>
                        <a:rPr b="1" lang="en-GB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.0m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  <p:graphicFrame>
        <p:nvGraphicFramePr>
          <p:cNvPr id="71" name="Google Shape;71;p1"/>
          <p:cNvGraphicFramePr/>
          <p:nvPr/>
        </p:nvGraphicFramePr>
        <p:xfrm>
          <a:off x="1760488" y="913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{3DA83457-CCA2-4F82-95F4-76A128A89B6D}</a:tableStyleId>
              </a:tblPr>
              <a:tblGrid>
                <a:gridCol w="54940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</a:t>
                      </a:r>
                      <a:r>
                        <a:rPr b="1" lang="en-GB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r>
                        <a:rPr b="1" lang="en-GB" sz="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</a:t>
                      </a:r>
                      <a:endParaRPr b="1"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-10</a:t>
                      </a:r>
                      <a:r>
                        <a:rPr b="1" lang="en-GB" sz="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b="1"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  <p:pic>
        <p:nvPicPr>
          <p:cNvPr id="72" name="Google Shape;72;p1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37500" y="969284"/>
            <a:ext cx="383825" cy="328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p1"/>
          <p:cNvCxnSpPr>
            <a:stCxn id="62" idx="2"/>
            <a:endCxn id="72" idx="3"/>
          </p:cNvCxnSpPr>
          <p:nvPr/>
        </p:nvCxnSpPr>
        <p:spPr>
          <a:xfrm flipH="1">
            <a:off x="2921338" y="1015175"/>
            <a:ext cx="143400" cy="11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"/>
          <p:cNvCxnSpPr>
            <a:stCxn id="63" idx="6"/>
            <a:endCxn id="72" idx="1"/>
          </p:cNvCxnSpPr>
          <p:nvPr/>
        </p:nvCxnSpPr>
        <p:spPr>
          <a:xfrm>
            <a:off x="2291988" y="1024950"/>
            <a:ext cx="245400" cy="10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75" name="Google Shape;75;p1"/>
          <p:cNvGraphicFramePr/>
          <p:nvPr/>
        </p:nvGraphicFramePr>
        <p:xfrm>
          <a:off x="1578613" y="137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{3DA83457-CCA2-4F82-95F4-76A128A89B6D}</a:tableStyleId>
              </a:tblPr>
              <a:tblGrid>
                <a:gridCol w="1094375"/>
                <a:gridCol w="1039225"/>
              </a:tblGrid>
              <a:tr h="2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</a:t>
                      </a:r>
                      <a:r>
                        <a:rPr b="1" lang="en-GB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</a:t>
                      </a:r>
                      <a:r>
                        <a:rPr b="1" lang="en-GB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vs LY</a:t>
                      </a:r>
                      <a:endParaRPr b="1"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</a:t>
                      </a:r>
                      <a:r>
                        <a:rPr b="1" lang="en-GB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r>
                        <a:rPr b="1" lang="en-GB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 vs LY</a:t>
                      </a:r>
                      <a:endParaRPr b="1" sz="7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6" name="Google Shape;76;p1"/>
          <p:cNvGraphicFramePr/>
          <p:nvPr/>
        </p:nvGraphicFramePr>
        <p:xfrm>
          <a:off x="1043050" y="667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{3DA83457-CCA2-4F82-95F4-76A128A89B6D}</a:tableStyleId>
              </a:tblPr>
              <a:tblGrid>
                <a:gridCol w="444775"/>
              </a:tblGrid>
              <a:tr h="94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</a:t>
                      </a:r>
                      <a:r>
                        <a:rPr b="1" lang="en-GB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r>
                        <a:rPr b="1" lang="en-GB" sz="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b="1"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vs LY</a:t>
                      </a:r>
                      <a:endParaRPr b="1" sz="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7" name="Google Shape;7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33136" y="1733675"/>
            <a:ext cx="201689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" title="Chart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39625" y="1695950"/>
            <a:ext cx="2886699" cy="1371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9" name="Google Shape;79;p1"/>
          <p:cNvGraphicFramePr/>
          <p:nvPr/>
        </p:nvGraphicFramePr>
        <p:xfrm>
          <a:off x="6325400" y="165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{3DA83457-CCA2-4F82-95F4-76A128A89B6D}</a:tableStyleId>
              </a:tblPr>
              <a:tblGrid>
                <a:gridCol w="506225"/>
                <a:gridCol w="809950"/>
                <a:gridCol w="641200"/>
                <a:gridCol w="683400"/>
              </a:tblGrid>
              <a:tr h="143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Value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High / Medium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Low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Lapsed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1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SOW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55%+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Retain</a:t>
                      </a:r>
                      <a:endParaRPr b="1" sz="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72.2</a:t>
                      </a:r>
                      <a:endParaRPr b="1" sz="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1.9% vs LY</a:t>
                      </a:r>
                      <a:endParaRPr b="1" sz="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 gridSpan="2"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Attract</a:t>
                      </a:r>
                      <a:endParaRPr b="1" sz="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34.9</a:t>
                      </a:r>
                      <a:endParaRPr b="1" sz="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-26.6% vs LY</a:t>
                      </a:r>
                      <a:endParaRPr b="1" sz="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 rowSpan="3" hMerge="1"/>
              </a:tr>
              <a:tr h="31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30%-55%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Grow</a:t>
                      </a:r>
                      <a:endParaRPr b="1" sz="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78.8</a:t>
                      </a:r>
                      <a:endParaRPr b="1" sz="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-15% vs LY</a:t>
                      </a:r>
                      <a:endParaRPr b="1" sz="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 gridSpan="2" vMerge="1"/>
                <a:tc hMerge="1" vMerge="1"/>
              </a:tr>
              <a:tr h="22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0% - 30%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 gridSpan="2" vMerge="1"/>
                <a:tc hMerge="1" vMerge="1"/>
              </a:tr>
              <a:tr h="31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1st Time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Shoppers</a:t>
                      </a:r>
                      <a:endParaRPr b="1" sz="7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One Time Shopped</a:t>
                      </a:r>
                      <a:endParaRPr b="1"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10.2</a:t>
                      </a:r>
                      <a:endParaRPr b="1"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GB" sz="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-28.6% vs LY</a:t>
                      </a:r>
                      <a:endParaRPr b="1"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pic>
        <p:nvPicPr>
          <p:cNvPr id="80" name="Google Shape;80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92547" y="45926"/>
            <a:ext cx="383825" cy="383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1" name="Google Shape;81;p1"/>
          <p:cNvGraphicFramePr/>
          <p:nvPr/>
        </p:nvGraphicFramePr>
        <p:xfrm>
          <a:off x="5639125" y="77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{3DA83457-CCA2-4F82-95F4-76A128A89B6D}</a:tableStyleId>
              </a:tblPr>
              <a:tblGrid>
                <a:gridCol w="1205400"/>
              </a:tblGrid>
              <a:tr h="2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>
                          <a:solidFill>
                            <a:srgbClr val="FF99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July 2029</a:t>
                      </a:r>
                      <a:endParaRPr b="1" sz="1800" u="none" cap="none" strike="noStrike">
                        <a:solidFill>
                          <a:srgbClr val="FF99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2" name="Google Shape;82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65615" y="47625"/>
            <a:ext cx="716735" cy="382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3" name="Google Shape;83;p1"/>
          <p:cNvGraphicFramePr/>
          <p:nvPr/>
        </p:nvGraphicFramePr>
        <p:xfrm>
          <a:off x="3820100" y="4719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{3DA83457-CCA2-4F82-95F4-76A128A89B6D}</a:tableStyleId>
              </a:tblPr>
              <a:tblGrid>
                <a:gridCol w="5146075"/>
              </a:tblGrid>
              <a:tr h="25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GB" sz="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■ RETIREES ($2.9m, -5.1% YoY) and YOUNG FAMS ($4m, -13.3% YoY) had the highest growth while NEW FAMS ($1.1m, -27.1% YoY) and YOUNG SINKS ($1.1m, -34% YoY) had the lowest growth.</a:t>
                      </a:r>
                      <a:endParaRPr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GB" sz="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■ Retain members ($7.2M) had the largest sales growth (1.9% YoY).</a:t>
                      </a:r>
                      <a:endParaRPr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GB" sz="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■ Monthly Frequency of Retained customer base was 3 shops (0.2% from Last Month).</a:t>
                      </a:r>
                      <a:endParaRPr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GB" sz="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■ 41% of Partner X baskets were from members cross shopped at Supers as well as Partner X (0% from Last Month).</a:t>
                      </a:r>
                      <a:endParaRPr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GB" sz="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■ The Scan Rate was 50.5% (+3.1% YoY) and Tag Rate was 57% (+4% YoY).</a:t>
                      </a:r>
                      <a:endParaRPr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GB" sz="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■ The Average Order Value for Members was $41 (-1% from Last Month).</a:t>
                      </a:r>
                      <a:endParaRPr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GB" sz="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■ Member $ AOV YOY growth was -5% and Non-Member $ AOV YOY growth was -8%.</a:t>
                      </a:r>
                      <a:endParaRPr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t/>
                      </a:r>
                      <a:endParaRPr b="1" sz="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