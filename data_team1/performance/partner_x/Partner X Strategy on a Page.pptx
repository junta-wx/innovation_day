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  <p:embeddedFont>
      <p:font typeface="Montserrat Ligh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3" Type="http://schemas.openxmlformats.org/officeDocument/2006/relationships/font" Target="fonts/MontserratLight-bold.fntdata"/><Relationship Id="rId12" Type="http://schemas.openxmlformats.org/officeDocument/2006/relationships/font" Target="fonts/Montserrat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bold.fntdata"/><Relationship Id="rId15" Type="http://schemas.openxmlformats.org/officeDocument/2006/relationships/font" Target="fonts/MontserratLight-boldItalic.fntdata"/><Relationship Id="rId14" Type="http://schemas.openxmlformats.org/officeDocument/2006/relationships/font" Target="fonts/Montserrat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8c0df2d06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8c0df2d06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8c0df2d06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8c0df2d06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- Title Sldie">
  <p:cSld name="TITLE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11440" l="24761" r="11896" t="18163"/>
          <a:stretch/>
        </p:blipFill>
        <p:spPr>
          <a:xfrm>
            <a:off x="90300" y="90000"/>
            <a:ext cx="4392000" cy="4963500"/>
          </a:xfrm>
          <a:prstGeom prst="round2DiagRect">
            <a:avLst>
              <a:gd fmla="val 1191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816888" y="4901787"/>
            <a:ext cx="3366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9397" y="4684897"/>
            <a:ext cx="887601" cy="5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663450" y="955125"/>
            <a:ext cx="3678000" cy="180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3000"/>
              <a:buFont typeface="Montserrat"/>
              <a:buNone/>
              <a:defRPr b="1" sz="3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663450" y="2697475"/>
            <a:ext cx="40131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800"/>
              <a:buFont typeface="Montserrat Light"/>
              <a:buNone/>
              <a:defRPr sz="18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2" type="subTitle"/>
          </p:nvPr>
        </p:nvSpPr>
        <p:spPr>
          <a:xfrm>
            <a:off x="4663450" y="4527588"/>
            <a:ext cx="32358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000"/>
              <a:buFont typeface="Montserrat"/>
              <a:buNone/>
              <a:defRPr b="1" sz="1000">
                <a:solidFill>
                  <a:srgbClr val="3A474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3" type="subTitle"/>
          </p:nvPr>
        </p:nvSpPr>
        <p:spPr>
          <a:xfrm>
            <a:off x="4663450" y="4711808"/>
            <a:ext cx="32358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A474E"/>
              </a:buClr>
              <a:buSzPts val="1000"/>
              <a:buFont typeface="Montserrat Light"/>
              <a:buNone/>
              <a:defRPr sz="1000">
                <a:solidFill>
                  <a:srgbClr val="3A474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 5">
  <p:cSld name="TITLE_1_1_1_5"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93750" y="90000"/>
            <a:ext cx="8960100" cy="4963500"/>
          </a:xfrm>
          <a:prstGeom prst="round2DiagRect">
            <a:avLst>
              <a:gd fmla="val 10351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62" y="4655064"/>
            <a:ext cx="420450" cy="4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816888" y="4901787"/>
            <a:ext cx="3366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1 Col">
  <p:cSld name="TITLE_1_2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08913" y="0"/>
            <a:ext cx="3228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type="title"/>
          </p:nvPr>
        </p:nvSpPr>
        <p:spPr>
          <a:xfrm>
            <a:off x="468175" y="632525"/>
            <a:ext cx="5586000" cy="8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473275" y="1147675"/>
            <a:ext cx="4113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>
            <a:off x="563700" y="4790950"/>
            <a:ext cx="8044500" cy="13500"/>
          </a:xfrm>
          <a:prstGeom prst="rect">
            <a:avLst/>
          </a:prstGeom>
          <a:solidFill>
            <a:srgbClr val="7F7F7F">
              <a:alpha val="324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18866" l="79356" r="3894" t="19519"/>
          <a:stretch/>
        </p:blipFill>
        <p:spPr>
          <a:xfrm>
            <a:off x="279914" y="4738958"/>
            <a:ext cx="139575" cy="1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idx="2" type="subTitle"/>
          </p:nvPr>
        </p:nvSpPr>
        <p:spPr>
          <a:xfrm>
            <a:off x="176450" y="160546"/>
            <a:ext cx="4113600" cy="2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46506" y="464664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800">
                <a:solidFill>
                  <a:srgbClr val="39464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4663450" y="955125"/>
            <a:ext cx="4013100" cy="180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Partner X Strategy Pack FY30</a:t>
            </a:r>
            <a:endParaRPr/>
          </a:p>
        </p:txBody>
      </p:sp>
      <p:sp>
        <p:nvSpPr>
          <p:cNvPr id="75" name="Google Shape;75;p16"/>
          <p:cNvSpPr txBox="1"/>
          <p:nvPr>
            <p:ph idx="2" type="subTitle"/>
          </p:nvPr>
        </p:nvSpPr>
        <p:spPr>
          <a:xfrm>
            <a:off x="4663450" y="4527588"/>
            <a:ext cx="32358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3" type="subTitle"/>
          </p:nvPr>
        </p:nvSpPr>
        <p:spPr>
          <a:xfrm>
            <a:off x="4663450" y="4711808"/>
            <a:ext cx="3235800" cy="2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46506" y="441804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2349955" y="1230325"/>
            <a:ext cx="2166300" cy="12168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Support </a:t>
            </a: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Partner X</a:t>
            </a: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’s 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Strategies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i="1" lang="en-GB" sz="900">
                <a:latin typeface="Montserrat"/>
                <a:ea typeface="Montserrat"/>
                <a:cs typeface="Montserrat"/>
                <a:sym typeface="Montserrat"/>
              </a:rPr>
              <a:t>Create a Connected Customer Experience integrating stores and online shops</a:t>
            </a:r>
            <a:endParaRPr b="1" i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601009" y="1230325"/>
            <a:ext cx="2166300" cy="12168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&amp; Model-Driven Led Approach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i="1" lang="en-GB" sz="900">
                <a:latin typeface="Montserrat"/>
                <a:ea typeface="Montserrat"/>
                <a:cs typeface="Montserrat"/>
                <a:sym typeface="Montserrat"/>
              </a:rPr>
              <a:t>Ensure all campaigns are model driven through data &amp; segmentation to future-proof  automation of campaigns</a:t>
            </a:r>
            <a:endParaRPr i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150950" y="-4725"/>
            <a:ext cx="64662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D6400"/>
                </a:solidFill>
                <a:latin typeface="Montserrat"/>
                <a:ea typeface="Montserrat"/>
                <a:cs typeface="Montserrat"/>
                <a:sym typeface="Montserrat"/>
              </a:rPr>
              <a:t>F30 BTL Program Strategy and Initiatives</a:t>
            </a:r>
            <a:endParaRPr b="1" sz="2000">
              <a:solidFill>
                <a:srgbClr val="FD64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627752" y="2532725"/>
            <a:ext cx="2166300" cy="2514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Continuous improvement and </a:t>
            </a: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evolution of Personalisation and 1:1 Product recommendations</a:t>
            </a:r>
            <a:endParaRPr b="1"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 category subscription models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remind customer to purchase/shop based on frequency or intervals 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Build models to </a:t>
            </a: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increase and attract Online shoppers </a:t>
            </a:r>
            <a:endParaRPr b="1"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Always-on Test &amp; Learn Plan to </a:t>
            </a: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optimise growth centered around AI models</a:t>
            </a:r>
            <a:endParaRPr b="1"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98900" y="538075"/>
            <a:ext cx="8896200" cy="647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Drive Incremental Sales &amp; Deliver profitable Share of Wallet growth through AI led digital and data capability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6852058" y="1230325"/>
            <a:ext cx="2166300" cy="12168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Rewards ATL &amp; Member Engagement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i="1" lang="en-GB" sz="900">
                <a:latin typeface="Montserrat"/>
                <a:ea typeface="Montserrat"/>
                <a:cs typeface="Montserrat"/>
                <a:sym typeface="Montserrat"/>
              </a:rPr>
              <a:t>Drive TTL campaigns to engage Rewards members to shop at </a:t>
            </a:r>
            <a:r>
              <a:rPr i="1" lang="en-GB" sz="900">
                <a:latin typeface="Montserrat"/>
                <a:ea typeface="Montserrat"/>
                <a:cs typeface="Montserrat"/>
                <a:sym typeface="Montserrat"/>
              </a:rPr>
              <a:t>Partner X</a:t>
            </a:r>
            <a:endParaRPr i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878800" y="2532725"/>
            <a:ext cx="2166300" cy="2514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</a:t>
            </a: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Everyday Rewards launch incl FSC migration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Tas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Bring the best to Members with </a:t>
            </a: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Exclusive ATL events and benefits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at 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Partner X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Partner X</a:t>
            </a: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Content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through inspiration, engagement and value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Increase in-store presence of Rewards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with education awareness &amp; acquisition 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Store Ops support, training and incentives to </a:t>
            </a: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grow advocacy of Program</a:t>
            </a:r>
            <a:endParaRPr b="1"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98900" y="1230325"/>
            <a:ext cx="2166300" cy="12168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Core Segments Focused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i="1" lang="en-GB" sz="900">
                <a:latin typeface="Montserrat"/>
                <a:ea typeface="Montserrat"/>
                <a:cs typeface="Montserrat"/>
                <a:sym typeface="Montserrat"/>
              </a:rPr>
              <a:t>Customer First led strategy, coupled with Share of Wallet focus</a:t>
            </a:r>
            <a:endParaRPr b="1" i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98900" y="2532725"/>
            <a:ext cx="2166300" cy="2514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 Category Strategy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Comms plan developed</a:t>
            </a:r>
            <a:b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Convert mission-based shoppers into </a:t>
            </a: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everyday shoppers</a:t>
            </a:r>
            <a:endParaRPr b="1"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Drive repeat purchase with NEW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1 time shoppers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Leverage on new channels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(Rewards App) and increase Capability support (e-receipts)</a:t>
            </a:r>
            <a:endParaRPr b="1"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2363326" y="2532725"/>
            <a:ext cx="2166300" cy="2514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68% YoY Inc Sales growth to help </a:t>
            </a: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drive overall growth projections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Partner X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Accelerate digital 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(collaboration with 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Partner X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Digital team)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Competitor combat strategy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maximise opportunities (</a:t>
            </a:r>
            <a:r>
              <a:rPr i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Target closures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and minimise risks (</a:t>
            </a:r>
            <a:r>
              <a:rPr i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Kmart replacements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Encourage cross shop</a:t>
            </a:r>
            <a:endParaRPr b="1"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93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Font typeface="Montserrat"/>
              <a:buChar char="●"/>
            </a:pPr>
            <a:r>
              <a:rPr b="1"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retail media </a:t>
            </a:r>
            <a:r>
              <a:rPr lang="en-GB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establishment for 1:1 supplier-funded promotions 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